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2.xml" ContentType="application/vnd.openxmlformats-officedocument.drawingml.chart+xml"/>
  <Override PartName="/ppt/charts/style2.xml" ContentType="application/vnd.ms-office.chartstyle+xml"/>
  <Override PartName="/ppt/charts/colors2.xml" ContentType="application/vnd.ms-office.chartcolorstyle+xml"/>
  <Override PartName="/ppt/theme/themeOverride1.xml" ContentType="application/vnd.openxmlformats-officedocument.themeOverr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5" r:id="rId6"/>
    <p:sldId id="266" r:id="rId7"/>
    <p:sldId id="267" r:id="rId8"/>
    <p:sldId id="260" r:id="rId9"/>
    <p:sldId id="268" r:id="rId10"/>
    <p:sldId id="261" r:id="rId11"/>
    <p:sldId id="269" r:id="rId12"/>
    <p:sldId id="270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AAD3EC"/>
    <a:srgbClr val="E6E6E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025" autoAdjust="0"/>
    <p:restoredTop sz="84010" autoAdjust="0"/>
  </p:normalViewPr>
  <p:slideViewPr>
    <p:cSldViewPr snapToGrid="0">
      <p:cViewPr varScale="1">
        <p:scale>
          <a:sx n="91" d="100"/>
          <a:sy n="91" d="100"/>
        </p:scale>
        <p:origin x="63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Book1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themeOverride" Target="../theme/themeOverride1.xml"/><Relationship Id="rId2" Type="http://schemas.microsoft.com/office/2011/relationships/chartColorStyle" Target="colors2.xml"/><Relationship Id="rId1" Type="http://schemas.microsoft.com/office/2011/relationships/chartStyle" Target="style2.xml"/><Relationship Id="rId4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8"/>
    </mc:Choice>
    <mc:Fallback>
      <c:style val="8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00" b="1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Salary By Experience Level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00" b="1" i="0" u="none" strike="noStrike" kern="1200" baseline="0">
              <a:solidFill>
                <a:schemeClr val="dk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Typical Salary</c:v>
                </c:pt>
              </c:strCache>
            </c:strRef>
          </c:tx>
          <c:spPr>
            <a:solidFill>
              <a:schemeClr val="accent6">
                <a:alpha val="85000"/>
              </a:schemeClr>
            </a:solidFill>
            <a:ln w="9525" cap="flat" cmpd="sng" algn="ctr">
              <a:solidFill>
                <a:schemeClr val="lt1">
                  <a:alpha val="50000"/>
                </a:schemeClr>
              </a:solidFill>
              <a:round/>
            </a:ln>
            <a:effectLst/>
          </c:spPr>
          <c:invertIfNegative val="0"/>
          <c:dLbls>
            <c:spPr>
              <a:noFill/>
              <a:ln>
                <a:noFill/>
              </a:ln>
              <a:effectLst/>
            </c:spPr>
            <c:txPr>
              <a:bodyPr rot="0" spcFirstLastPara="1" vertOverflow="ellipsis" vert="horz" wrap="square" anchor="ctr" anchorCtr="1"/>
              <a:lstStyle/>
              <a:p>
                <a:pPr>
                  <a:defRPr sz="900" b="1" i="0" u="none" strike="noStrike" kern="1200" baseline="0">
                    <a:solidFill>
                      <a:schemeClr val="dk1"/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>
                      <a:solidFill>
                        <a:schemeClr val="dk1">
                          <a:lumMod val="50000"/>
                          <a:lumOff val="50000"/>
                        </a:schemeClr>
                      </a:solidFill>
                    </a:ln>
                    <a:effectLst/>
                  </c:spPr>
                </c15:leaderLines>
              </c:ext>
            </c:extLst>
          </c:dLbls>
          <c:cat>
            <c:strRef>
              <c:f>Sheet1!$A$2:$A$6</c:f>
              <c:strCache>
                <c:ptCount val="5"/>
                <c:pt idx="0">
                  <c:v>Entry-Level (&lt; 1 year)</c:v>
                </c:pt>
                <c:pt idx="1">
                  <c:v>Early Career (1-2 years)</c:v>
                </c:pt>
                <c:pt idx="2">
                  <c:v>Mid-Level (2-4 years)</c:v>
                </c:pt>
                <c:pt idx="3">
                  <c:v>Senior-Level (5-8 years)</c:v>
                </c:pt>
                <c:pt idx="4">
                  <c:v>Expert (&gt; 8 years)</c:v>
                </c:pt>
              </c:strCache>
            </c:strRef>
          </c:cat>
          <c:val>
            <c:numRef>
              <c:f>Sheet1!$B$2:$B$6</c:f>
              <c:numCache>
                <c:formatCode>_("$"* #,##0.00_);_("$"* \(#,##0.00\);_("$"* "-"??_);_(@_)</c:formatCode>
                <c:ptCount val="5"/>
                <c:pt idx="0">
                  <c:v>115536</c:v>
                </c:pt>
                <c:pt idx="1">
                  <c:v>116301</c:v>
                </c:pt>
                <c:pt idx="2">
                  <c:v>117067</c:v>
                </c:pt>
                <c:pt idx="3">
                  <c:v>120972</c:v>
                </c:pt>
                <c:pt idx="4">
                  <c:v>123521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A74-4B16-B16F-B2017F1A1A4B}"/>
            </c:ext>
          </c:extLst>
        </c:ser>
        <c:dLbls>
          <c:dLblPos val="inEnd"/>
          <c:showLegendKey val="0"/>
          <c:showVal val="1"/>
          <c:showCatName val="0"/>
          <c:showSerName val="0"/>
          <c:showPercent val="0"/>
          <c:showBubbleSize val="0"/>
        </c:dLbls>
        <c:gapWidth val="65"/>
        <c:axId val="1887394208"/>
        <c:axId val="1887390048"/>
      </c:barChart>
      <c:catAx>
        <c:axId val="1887394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19050" cap="flat" cmpd="sng" algn="ctr">
            <a:solidFill>
              <a:schemeClr val="dk1">
                <a:lumMod val="75000"/>
                <a:lumOff val="2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cap="all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7390048"/>
        <c:crosses val="autoZero"/>
        <c:auto val="1"/>
        <c:lblAlgn val="ctr"/>
        <c:lblOffset val="100"/>
        <c:noMultiLvlLbl val="0"/>
      </c:catAx>
      <c:valAx>
        <c:axId val="1887390048"/>
        <c:scaling>
          <c:orientation val="minMax"/>
        </c:scaling>
        <c:delete val="0"/>
        <c:axPos val="b"/>
        <c:majorGridlines>
          <c:spPr>
            <a:ln w="9525" cap="flat" cmpd="sng" algn="ctr">
              <a:gradFill>
                <a:gsLst>
                  <a:gs pos="100000">
                    <a:schemeClr val="dk1">
                      <a:lumMod val="95000"/>
                      <a:lumOff val="5000"/>
                      <a:alpha val="42000"/>
                    </a:schemeClr>
                  </a:gs>
                  <a:gs pos="0">
                    <a:schemeClr val="lt1">
                      <a:lumMod val="75000"/>
                      <a:alpha val="36000"/>
                    </a:schemeClr>
                  </a:gs>
                </a:gsLst>
                <a:lin ang="5400000" scaled="0"/>
              </a:gradFill>
              <a:round/>
            </a:ln>
            <a:effectLst/>
          </c:spPr>
        </c:majorGridlines>
        <c:numFmt formatCode="_(&quot;$&quot;* #,##0.00_);_(&quot;$&quot;* \(#,##0.00\);_(&quot;$&quot;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dk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7394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gradFill flip="none" rotWithShape="1">
      <a:gsLst>
        <a:gs pos="0">
          <a:schemeClr val="lt1"/>
        </a:gs>
        <a:gs pos="39000">
          <a:schemeClr val="lt1"/>
        </a:gs>
        <a:gs pos="100000">
          <a:schemeClr val="lt1">
            <a:lumMod val="75000"/>
          </a:schemeClr>
        </a:gs>
      </a:gsLst>
      <a:path path="circle">
        <a:fillToRect l="50000" t="-80000" r="50000" b="180000"/>
      </a:path>
      <a:tileRect/>
    </a:gradFill>
    <a:ln w="9525" cap="flat" cmpd="sng" algn="ctr">
      <a:solidFill>
        <a:schemeClr val="dk1">
          <a:lumMod val="25000"/>
          <a:lumOff val="75000"/>
        </a:schemeClr>
      </a:solidFill>
      <a:round/>
    </a:ln>
    <a:effectLst/>
  </c:spPr>
  <c:txPr>
    <a:bodyPr/>
    <a:lstStyle/>
    <a:p>
      <a:pPr>
        <a:defRPr>
          <a:solidFill>
            <a:schemeClr val="dk1"/>
          </a:solidFill>
        </a:defRPr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3"/>
    </mc:Choice>
    <mc:Fallback>
      <c:style val="3"/>
    </mc:Fallback>
  </mc:AlternateContent>
  <c:clrMapOvr bg1="lt1" tx1="dk1" bg2="lt2" tx2="dk2" accent1="accent1" accent2="accent2" accent3="accent3" accent4="accent4" accent5="accent5" accent6="accent6" hlink="hlink" folHlink="folHlink"/>
  <c:chart>
    <c:title>
      <c:tx>
        <c:rich>
          <a:bodyPr rot="0" spcFirstLastPara="1" vertOverflow="ellipsis" vert="horz" wrap="square" anchor="ctr" anchorCtr="1"/>
          <a:lstStyle/>
          <a:p>
            <a:pPr>
              <a:defRPr sz="1500" b="1" i="0" u="none" strike="noStrike" kern="1200" cap="all" spc="10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Recent Salary Data &amp; Benchmarks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500" b="1" i="0" u="none" strike="noStrike" kern="1200" cap="all" spc="100" normalizeH="0" baseline="0">
              <a:solidFill>
                <a:schemeClr val="lt1"/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Sheet1!$B$8</c:f>
              <c:strCache>
                <c:ptCount val="1"/>
                <c:pt idx="0">
                  <c:v>Salary</c:v>
                </c:pt>
              </c:strCache>
            </c:strRef>
          </c:tx>
          <c:spPr>
            <a:pattFill prst="ltUpDiag">
              <a:fgClr>
                <a:schemeClr val="accent1"/>
              </a:fgClr>
              <a:bgClr>
                <a:schemeClr val="lt1"/>
              </a:bgClr>
            </a:pattFill>
            <a:ln>
              <a:noFill/>
            </a:ln>
            <a:effectLst/>
          </c:spPr>
          <c:invertIfNegative val="0"/>
          <c:cat>
            <c:strRef>
              <c:f>Sheet1!$A$9:$A$13</c:f>
              <c:strCache>
                <c:ptCount val="5"/>
                <c:pt idx="0">
                  <c:v>2023 Range Low</c:v>
                </c:pt>
                <c:pt idx="1">
                  <c:v>2023 Range High</c:v>
                </c:pt>
                <c:pt idx="2">
                  <c:v>May 2024 Median</c:v>
                </c:pt>
                <c:pt idx="3">
                  <c:v>2025 Median</c:v>
                </c:pt>
                <c:pt idx="4">
                  <c:v>Top Earner (Highest 10%)</c:v>
                </c:pt>
              </c:strCache>
            </c:strRef>
          </c:cat>
          <c:val>
            <c:numRef>
              <c:f>Sheet1!$B$9:$B$13</c:f>
              <c:numCache>
                <c:formatCode>_([$$-409]* #,##0.00_);_([$$-409]* \(#,##0.00\);_([$$-409]* "-"??_);_(@_)</c:formatCode>
                <c:ptCount val="5"/>
                <c:pt idx="0">
                  <c:v>88500</c:v>
                </c:pt>
                <c:pt idx="1">
                  <c:v>133250</c:v>
                </c:pt>
                <c:pt idx="2">
                  <c:v>104620</c:v>
                </c:pt>
                <c:pt idx="3">
                  <c:v>105473</c:v>
                </c:pt>
                <c:pt idx="4">
                  <c:v>160890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DEE0-4373-8A1B-B1FB0C815503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69"/>
        <c:overlap val="-20"/>
        <c:axId val="2124541424"/>
        <c:axId val="2124543504"/>
      </c:barChart>
      <c:catAx>
        <c:axId val="2124541424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lt1">
                  <a:alpha val="2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 w="3175" cap="flat" cmpd="sng" algn="ctr">
            <a:solidFill>
              <a:schemeClr val="accent1">
                <a:lumMod val="60000"/>
                <a:lumOff val="40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800" b="0" i="0" u="none" strike="noStrike" kern="1200" cap="all" spc="150" normalizeH="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543504"/>
        <c:crosses val="autoZero"/>
        <c:auto val="1"/>
        <c:lblAlgn val="ctr"/>
        <c:lblOffset val="100"/>
        <c:noMultiLvlLbl val="0"/>
      </c:catAx>
      <c:valAx>
        <c:axId val="2124543504"/>
        <c:scaling>
          <c:orientation val="minMax"/>
        </c:scaling>
        <c:delete val="0"/>
        <c:axPos val="l"/>
        <c:numFmt formatCode="_([$$-409]* #,##0.00_);_([$$-409]* \(#,##0.00\);_([$$-409]* &quot;-&quot;??_);_(@_)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lt1"/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12454142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solidFill>
      <a:schemeClr val="accent1"/>
    </a:solidFill>
    <a:ln w="9525" cap="flat" cmpd="sng" algn="ctr">
      <a:solidFill>
        <a:schemeClr val="accent1"/>
      </a:solidFill>
      <a:round/>
    </a:ln>
    <a:effectLst/>
  </c:spPr>
  <c:txPr>
    <a:bodyPr/>
    <a:lstStyle/>
    <a:p>
      <a:pPr>
        <a:defRPr/>
      </a:pPr>
      <a:endParaRPr lang="en-US"/>
    </a:p>
  </c:txPr>
  <c:externalData r:id="rId4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withinLinearReversed" id="26">
  <a:schemeClr val="accent6"/>
</cs:colorStyle>
</file>

<file path=ppt/charts/colors2.xml><?xml version="1.0" encoding="utf-8"?>
<cs:colorStyle xmlns:cs="http://schemas.microsoft.com/office/drawing/2012/chartStyle" xmlns:a="http://schemas.openxmlformats.org/drawingml/2006/main" meth="withinLinear" id="14">
  <a:schemeClr val="accent1"/>
</cs:colorStyle>
</file>

<file path=ppt/charts/style1.xml><?xml version="1.0" encoding="utf-8"?>
<cs:chartStyle xmlns:cs="http://schemas.microsoft.com/office/drawing/2012/chartStyle" xmlns:a="http://schemas.openxmlformats.org/drawingml/2006/main" id="218">
  <cs:axisTitle>
    <cs:lnRef idx="0"/>
    <cs:fillRef idx="0"/>
    <cs:effectRef idx="0"/>
    <cs:fontRef idx="minor">
      <a:schemeClr val="dk1">
        <a:lumMod val="75000"/>
        <a:lumOff val="25000"/>
      </a:schemeClr>
    </cs:fontRef>
    <cs:defRPr sz="900" b="1" kern="1200"/>
  </cs:axisTitle>
  <cs:categoryAxis>
    <cs:lnRef idx="0"/>
    <cs:fillRef idx="0"/>
    <cs:effectRef idx="0"/>
    <cs:fontRef idx="minor">
      <a:schemeClr val="dk1">
        <a:lumMod val="75000"/>
        <a:lumOff val="25000"/>
      </a:schemeClr>
    </cs:fontRef>
    <cs:spPr>
      <a:ln w="190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 cap="all" baseline="0"/>
  </cs:categoryAxis>
  <cs:chartArea>
    <cs:lnRef idx="0"/>
    <cs:fillRef idx="0"/>
    <cs:effectRef idx="0"/>
    <cs:fontRef idx="minor">
      <a:schemeClr val="dk1"/>
    </cs:fontRef>
    <cs:spPr>
      <a:gradFill flip="none" rotWithShape="1">
        <a:gsLst>
          <a:gs pos="0">
            <a:schemeClr val="lt1"/>
          </a:gs>
          <a:gs pos="39000">
            <a:schemeClr val="lt1"/>
          </a:gs>
          <a:gs pos="100000">
            <a:schemeClr val="lt1">
              <a:lumMod val="75000"/>
            </a:schemeClr>
          </a:gs>
        </a:gsLst>
        <a:path path="circle">
          <a:fillToRect l="50000" t="-80000" r="50000" b="180000"/>
        </a:path>
        <a:tileRect/>
      </a:gradFill>
      <a:ln w="9525" cap="flat" cmpd="sng" algn="ctr">
        <a:solidFill>
          <a:schemeClr val="dk1">
            <a:lumMod val="25000"/>
            <a:lumOff val="7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lt1"/>
    </cs:fontRef>
    <cs:defRPr sz="900" b="1" i="0" u="none" strike="noStrike" kern="1200" baseline="0"/>
  </cs:dataLabel>
  <cs:dataLabelCallout>
    <cs:lnRef idx="0"/>
    <cs:fillRef idx="0"/>
    <cs:effectRef idx="0"/>
    <cs:fontRef idx="minor">
      <a:schemeClr val="lt1"/>
    </cs:fontRef>
    <cs:spPr>
      <a:solidFill>
        <a:schemeClr val="dk1">
          <a:lumMod val="65000"/>
          <a:lumOff val="35000"/>
          <a:alpha val="75000"/>
        </a:schemeClr>
      </a:solidFill>
    </cs:spPr>
    <cs:defRPr sz="900" b="1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  <a:ln w="9525" cap="flat" cmpd="sng" algn="ctr">
        <a:solidFill>
          <a:schemeClr val="lt1">
            <a:alpha val="50000"/>
          </a:schemeClr>
        </a:solidFill>
        <a:round/>
      </a:ln>
    </cs:spPr>
  </cs:dataPoint3D>
  <cs:dataPointLine>
    <cs:lnRef idx="0">
      <cs:styleClr val="auto"/>
    </cs:lnRef>
    <cs:fillRef idx="0"/>
    <cs:effectRef idx="0"/>
    <cs:fontRef idx="minor">
      <a:schemeClr val="dk1"/>
    </cs:fontRef>
    <cs:spPr>
      <a:ln w="31750" cap="rnd">
        <a:solidFill>
          <a:schemeClr val="phClr">
            <a:alpha val="85000"/>
          </a:schemeClr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>
          <a:alpha val="85000"/>
        </a:schemeClr>
      </a:solidFill>
    </cs:spPr>
  </cs:dataPointMarker>
  <cs:dataPointMarkerLayout symbol="circle" size="6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dk1">
        <a:lumMod val="75000"/>
        <a:lumOff val="25000"/>
      </a:schemeClr>
    </cs:fontRef>
    <cs:spPr>
      <a:ln w="9525">
        <a:solidFill>
          <a:schemeClr val="dk1">
            <a:lumMod val="35000"/>
            <a:lumOff val="65000"/>
          </a:schemeClr>
        </a:solidFill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50000"/>
          <a:lumOff val="50000"/>
        </a:schemeClr>
      </a:solidFill>
      <a:ln w="9525">
        <a:solidFill>
          <a:schemeClr val="dk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dropLine>
  <cs:errorBar>
    <cs:lnRef idx="0"/>
    <cs:fillRef idx="0"/>
    <cs:effectRef idx="0"/>
    <cs:fontRef idx="minor">
      <a:schemeClr val="dk1"/>
    </cs:fontRef>
    <cs:spPr>
      <a:ln w="9525">
        <a:solidFill>
          <a:schemeClr val="dk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dk1"/>
    </cs:fontRef>
  </cs:floor>
  <cs:gridlineMajor>
    <cs:lnRef idx="0"/>
    <cs:fillRef idx="0"/>
    <cs:effectRef idx="0"/>
    <cs:fontRef idx="minor">
      <a:schemeClr val="dk1"/>
    </cs:fontRef>
    <cs:spPr>
      <a:ln w="9525" cap="flat" cmpd="sng" algn="ctr"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  <a:round/>
      </a:ln>
    </cs:spPr>
  </cs:gridlineMajor>
  <cs:gridlineMinor>
    <cs:lnRef idx="0"/>
    <cs:fillRef idx="0"/>
    <cs:effectRef idx="0"/>
    <cs:fontRef idx="minor">
      <a:schemeClr val="dk1"/>
    </cs:fontRef>
    <cs:spPr>
      <a:ln>
        <a:gradFill>
          <a:gsLst>
            <a:gs pos="100000">
              <a:schemeClr val="dk1">
                <a:lumMod val="95000"/>
                <a:lumOff val="5000"/>
                <a:alpha val="42000"/>
              </a:schemeClr>
            </a:gs>
            <a:gs pos="0">
              <a:schemeClr val="lt1">
                <a:lumMod val="75000"/>
                <a:alpha val="36000"/>
              </a:schemeClr>
            </a:gs>
          </a:gsLst>
          <a:lin ang="5400000" scaled="0"/>
        </a:gradFill>
      </a:ln>
    </cs:spPr>
  </cs:gridlineMinor>
  <cs:hiLo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35000"/>
            <a:lumOff val="65000"/>
          </a:schemeClr>
        </a:solidFill>
        <a:prstDash val="dash"/>
      </a:ln>
    </cs:spPr>
  </cs:hiLoLine>
  <cs:leader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</a:ln>
    </cs:spPr>
  </cs:leaderLine>
  <cs:legend>
    <cs:lnRef idx="0"/>
    <cs:fillRef idx="0"/>
    <cs:effectRef idx="0"/>
    <cs:fontRef idx="minor">
      <a:schemeClr val="dk1">
        <a:lumMod val="75000"/>
        <a:lumOff val="25000"/>
      </a:schemeClr>
    </cs:fontRef>
    <cs:spPr>
      <a:solidFill>
        <a:schemeClr val="lt1">
          <a:lumMod val="95000"/>
          <a:alpha val="39000"/>
        </a:schemeClr>
      </a:solidFill>
    </cs:spPr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/>
    <cs:fillRef idx="0"/>
    <cs:effectRef idx="0"/>
    <cs:fontRef idx="minor">
      <a:schemeClr val="dk1">
        <a:lumMod val="75000"/>
        <a:lumOff val="25000"/>
      </a:schemeClr>
    </cs:fontRef>
    <cs:spPr>
      <a:ln w="31750" cap="flat" cmpd="sng" algn="ctr">
        <a:solidFill>
          <a:schemeClr val="dk1">
            <a:lumMod val="75000"/>
            <a:lumOff val="25000"/>
          </a:schemeClr>
        </a:solidFill>
        <a:round/>
      </a:ln>
    </cs:spPr>
    <cs:defRPr sz="900" kern="1200"/>
  </cs:seriesAxis>
  <cs:seriesLine>
    <cs:lnRef idx="0"/>
    <cs:fillRef idx="0"/>
    <cs:effectRef idx="0"/>
    <cs:fontRef idx="minor">
      <a:schemeClr val="dk1"/>
    </cs:fontRef>
    <cs:spPr>
      <a:ln w="9525">
        <a:solidFill>
          <a:schemeClr val="dk1">
            <a:lumMod val="50000"/>
            <a:lumOff val="50000"/>
          </a:schemeClr>
        </a:solidFill>
        <a:round/>
      </a:ln>
    </cs:spPr>
  </cs:seriesLine>
  <cs:title>
    <cs:lnRef idx="0"/>
    <cs:fillRef idx="0"/>
    <cs:effectRef idx="0"/>
    <cs:fontRef idx="minor">
      <a:schemeClr val="dk1">
        <a:lumMod val="75000"/>
        <a:lumOff val="25000"/>
      </a:schemeClr>
    </cs:fontRef>
    <cs:defRPr sz="1800" b="1" kern="1200" baseline="0"/>
  </cs:title>
  <cs:trendline>
    <cs:lnRef idx="0">
      <cs:styleClr val="auto"/>
    </cs:lnRef>
    <cs:fillRef idx="0"/>
    <cs:effectRef idx="0"/>
    <cs:fontRef idx="minor">
      <a:schemeClr val="dk1"/>
    </cs:fontRef>
    <cs:spPr>
      <a:ln w="19050" cap="rnd">
        <a:solidFill>
          <a:schemeClr val="phClr"/>
        </a:solidFill>
      </a:ln>
    </cs:spPr>
  </cs:trendline>
  <cs:trendlineLabel>
    <cs:lnRef idx="0"/>
    <cs:fillRef idx="0"/>
    <cs:effectRef idx="0"/>
    <cs:fontRef idx="minor">
      <a:schemeClr val="dk1">
        <a:lumMod val="75000"/>
        <a:lumOff val="2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dk1">
            <a:lumMod val="65000"/>
            <a:lumOff val="35000"/>
          </a:schemeClr>
        </a:solidFill>
      </a:ln>
    </cs:spPr>
  </cs:upBar>
  <cs:valueAxis>
    <cs:lnRef idx="0"/>
    <cs:fillRef idx="0"/>
    <cs:effectRef idx="0"/>
    <cs:fontRef idx="minor">
      <a:schemeClr val="dk1">
        <a:lumMod val="75000"/>
        <a:lumOff val="25000"/>
      </a:schemeClr>
    </cs:fontRef>
    <cs:spPr>
      <a:ln>
        <a:noFill/>
      </a:ln>
    </cs:spPr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charts/style2.xml><?xml version="1.0" encoding="utf-8"?>
<cs:chartStyle xmlns:cs="http://schemas.microsoft.com/office/drawing/2012/chartStyle" xmlns:a="http://schemas.openxmlformats.org/drawingml/2006/main" id="214">
  <cs:axisTitle>
    <cs:lnRef idx="0"/>
    <cs:fillRef idx="0"/>
    <cs:effectRef idx="0"/>
    <cs:fontRef idx="minor">
      <a:schemeClr val="lt1"/>
    </cs:fontRef>
    <cs:defRPr sz="900" b="1" kern="1200"/>
  </cs:axisTitle>
  <cs:category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800" kern="1200" cap="all" spc="150" normalizeH="0" baseline="0"/>
  </cs:categoryAxis>
  <cs:chartArea>
    <cs:lnRef idx="0">
      <cs:styleClr val="0"/>
    </cs:lnRef>
    <cs:fillRef idx="0">
      <cs:styleClr val="0"/>
    </cs:fillRef>
    <cs:effectRef idx="0"/>
    <cs:fontRef idx="minor">
      <a:schemeClr val="dk1"/>
    </cs:fontRef>
    <cs:spPr>
      <a:solidFill>
        <a:schemeClr val="phClr"/>
      </a:solidFill>
      <a:ln w="9525" cap="flat" cmpd="sng" algn="ctr">
        <a:solidFill>
          <a:schemeClr val="phClr"/>
        </a:solidFill>
        <a:round/>
      </a:ln>
    </cs:spPr>
    <cs:defRPr sz="1000" kern="1200"/>
  </cs:chartArea>
  <cs:dataLabel>
    <cs:lnRef idx="0"/>
    <cs:fillRef idx="0">
      <cs:styleClr val="auto"/>
    </cs:fillRef>
    <cs:effectRef idx="0"/>
    <cs:fontRef idx="minor">
      <a:schemeClr val="lt1"/>
    </cs:fontRef>
    <cs:spPr>
      <a:solidFill>
        <a:schemeClr val="phClr">
          <a:alpha val="70000"/>
        </a:schemeClr>
      </a:solidFill>
    </cs:spPr>
    <cs:defRPr sz="900" kern="1200"/>
  </cs:dataLabel>
  <cs:dataLabelCallout>
    <cs:lnRef idx="0">
      <cs:styleClr val="auto"/>
    </cs:lnRef>
    <cs:fillRef idx="0"/>
    <cs:effectRef idx="0"/>
    <cs:fontRef idx="minor">
      <cs:styleClr val="auto"/>
    </cs:fontRef>
    <cs:spPr>
      <a:solidFill>
        <a:schemeClr val="lt1"/>
      </a:solidFill>
      <a:ln>
        <a:solidFill>
          <a:schemeClr val="phClr"/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>
  <cs:dataPoint3D>
    <cs:lnRef idx="0"/>
    <cs:fillRef idx="0">
      <cs:styleClr val="auto"/>
    </cs:fillRef>
    <cs:effectRef idx="0"/>
    <cs:fontRef idx="minor">
      <a:schemeClr val="dk1"/>
    </cs:fontRef>
    <cs:spPr>
      <a:pattFill prst="ltUpDiag">
        <a:fgClr>
          <a:schemeClr val="phClr"/>
        </a:fgClr>
        <a:bgClr>
          <a:schemeClr val="lt1"/>
        </a:bgClr>
      </a:pattFill>
    </cs:spPr>
  </cs:dataPoint3D>
  <cs:dataPointLine>
    <cs:lnRef idx="0">
      <cs:styleClr val="auto"/>
    </cs:lnRef>
    <cs:fillRef idx="0"/>
    <cs:effectRef idx="0">
      <cs:styleClr val="auto"/>
    </cs:effectRef>
    <cs:fontRef idx="minor">
      <a:schemeClr val="dk1"/>
    </cs:fontRef>
    <cs:spPr>
      <a:ln w="34925" cap="rnd">
        <a:solidFill>
          <a:schemeClr val="lt1"/>
        </a:solidFill>
        <a:round/>
      </a:ln>
      <a:effectLst>
        <a:outerShdw dist="25400" dir="2700000" algn="tl" rotWithShape="0">
          <a:schemeClr val="phClr"/>
        </a:outerShdw>
      </a:effectLst>
    </cs:spPr>
  </cs:dataPointLine>
  <cs:dataPointMarker>
    <cs:lnRef idx="0"/>
    <cs:fillRef idx="0">
      <cs:styleClr val="auto"/>
    </cs:fillRef>
    <cs:effectRef idx="0"/>
    <cs:fontRef idx="minor">
      <a:schemeClr val="dk1"/>
    </cs:fontRef>
    <cs:spPr>
      <a:solidFill>
        <a:schemeClr val="phClr"/>
      </a:solidFill>
      <a:ln w="22225">
        <a:solidFill>
          <a:schemeClr val="lt1"/>
        </a:solidFill>
        <a:round/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>
      <cs:styleClr val="0"/>
    </cs:lnRef>
    <cs:fillRef idx="0"/>
    <cs:effectRef idx="0"/>
    <cs:fontRef idx="minor">
      <a:schemeClr val="lt1"/>
    </cs:fontRef>
    <cs:spPr>
      <a:ln w="9525">
        <a:solidFill>
          <a:schemeClr val="phClr">
            <a:lumMod val="60000"/>
            <a:lumOff val="40000"/>
          </a:schemeClr>
        </a:solidFill>
      </a:ln>
    </cs:spPr>
    <cs:defRPr sz="900" kern="1200"/>
  </cs:dataTable>
  <cs:downBar>
    <cs:lnRef idx="0">
      <cs:styleClr val="0"/>
    </cs:lnRef>
    <cs:fillRef idx="0"/>
    <cs:effectRef idx="0"/>
    <cs:fontRef idx="minor">
      <a:schemeClr val="dk1"/>
    </cs:fontRef>
    <cs:spPr>
      <a:solidFill>
        <a:schemeClr val="dk1">
          <a:lumMod val="35000"/>
          <a:lumOff val="6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downBar>
  <cs:drop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dropLine>
  <cs:errorBar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round/>
      </a:ln>
      <a:effectLst>
        <a:glow rad="25400">
          <a:schemeClr val="lt1"/>
        </a:glow>
      </a:effectLst>
    </cs:spPr>
  </cs:errorBar>
  <cs:floor>
    <cs:lnRef idx="0"/>
    <cs:fillRef idx="0"/>
    <cs:effectRef idx="0"/>
    <cs:fontRef idx="minor">
      <a:schemeClr val="dk1"/>
    </cs:fontRef>
  </cs:floor>
  <cs:gridlineMajor>
    <cs:lnRef idx="0">
      <cs:styleClr val="0"/>
    </cs:lnRef>
    <cs:fillRef idx="0"/>
    <cs:effectRef idx="0"/>
    <cs:fontRef idx="minor">
      <a:schemeClr val="dk1"/>
    </cs:fontRef>
    <cs:spPr>
      <a:ln w="9525" cap="flat" cmpd="sng" algn="ctr">
        <a:solidFill>
          <a:schemeClr val="lt1">
            <a:alpha val="25000"/>
          </a:schemeClr>
        </a:solidFill>
        <a:round/>
      </a:ln>
    </cs:spPr>
  </cs:gridlineMajor>
  <cs:gridlineMinor>
    <cs:lnRef idx="0">
      <cs:styleClr val="0"/>
    </cs:lnRef>
    <cs:fillRef idx="0"/>
    <cs:effectRef idx="0"/>
    <cs:fontRef idx="minor">
      <a:schemeClr val="dk1"/>
    </cs:fontRef>
    <cs:spPr>
      <a:ln>
        <a:solidFill>
          <a:schemeClr val="lt1">
            <a:alpha val="10000"/>
          </a:schemeClr>
        </a:solidFill>
      </a:ln>
    </cs:spPr>
  </cs:gridlineMinor>
  <cs:hiLo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  <a:prstDash val="dash"/>
      </a:ln>
    </cs:spPr>
  </cs:hiLoLine>
  <cs:leader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</a:schemeClr>
        </a:solidFill>
      </a:ln>
    </cs:spPr>
  </cs:leaderLine>
  <cs:legend>
    <cs:lnRef idx="0"/>
    <cs:fillRef idx="0"/>
    <cs:effectRef idx="0"/>
    <cs:fontRef idx="minor">
      <a:schemeClr val="lt1"/>
    </cs:fontRef>
    <cs:defRPr sz="900" kern="1200"/>
  </cs:legend>
  <cs:plotArea>
    <cs:lnRef idx="0"/>
    <cs:fillRef idx="0"/>
    <cs:effectRef idx="0"/>
    <cs:fontRef idx="minor">
      <a:schemeClr val="dk1"/>
    </cs:fontRef>
  </cs:plotArea>
  <cs:plotArea3D>
    <cs:lnRef idx="0"/>
    <cs:fillRef idx="0"/>
    <cs:effectRef idx="0"/>
    <cs:fontRef idx="minor">
      <a:schemeClr val="dk1"/>
    </cs:fontRef>
  </cs:plotArea3D>
  <cs:seriesAxis>
    <cs:lnRef idx="0">
      <cs:styleClr val="0"/>
    </cs:lnRef>
    <cs:fillRef idx="0"/>
    <cs:effectRef idx="0"/>
    <cs:fontRef idx="minor">
      <a:schemeClr val="lt1"/>
    </cs:fontRef>
    <cs:spPr>
      <a:ln w="3175" cap="flat" cmpd="sng" algn="ctr">
        <a:solidFill>
          <a:schemeClr val="phClr">
            <a:lumMod val="60000"/>
            <a:lumOff val="40000"/>
          </a:schemeClr>
        </a:solidFill>
        <a:round/>
      </a:ln>
    </cs:spPr>
    <cs:defRPr sz="900" kern="1200"/>
  </cs:seriesAxis>
  <cs:seriesLine>
    <cs:lnRef idx="0">
      <cs:styleClr val="0"/>
    </cs:lnRef>
    <cs:fillRef idx="0"/>
    <cs:effectRef idx="0"/>
    <cs:fontRef idx="minor">
      <a:schemeClr val="dk1"/>
    </cs:fontRef>
    <cs:spPr>
      <a:ln w="9525">
        <a:solidFill>
          <a:schemeClr val="phClr">
            <a:lumMod val="60000"/>
            <a:lumOff val="40000"/>
            <a:tint val="50000"/>
          </a:schemeClr>
        </a:solidFill>
        <a:prstDash val="dash"/>
      </a:ln>
    </cs:spPr>
  </cs:seriesLine>
  <cs:title>
    <cs:lnRef idx="0"/>
    <cs:fillRef idx="0"/>
    <cs:effectRef idx="0"/>
    <cs:fontRef idx="minor">
      <a:schemeClr val="lt1"/>
    </cs:fontRef>
    <cs:defRPr sz="1500" b="1" kern="1200" cap="all" spc="100" normalizeH="0" baseline="0"/>
  </cs:title>
  <cs:trendline>
    <cs:lnRef idx="0"/>
    <cs:fillRef idx="0"/>
    <cs:effectRef idx="0"/>
    <cs:fontRef idx="minor">
      <a:schemeClr val="dk1"/>
    </cs:fontRef>
    <cs:spPr>
      <a:ln w="28575" cap="rnd">
        <a:solidFill>
          <a:schemeClr val="lt1">
            <a:alpha val="50000"/>
          </a:schemeClr>
        </a:solidFill>
        <a:round/>
      </a:ln>
    </cs:spPr>
  </cs:trendline>
  <cs:trendlineLabel>
    <cs:lnRef idx="0"/>
    <cs:fillRef idx="0"/>
    <cs:effectRef idx="0"/>
    <cs:fontRef idx="minor">
      <a:schemeClr val="lt1"/>
    </cs:fontRef>
    <cs:defRPr sz="900" kern="1200"/>
  </cs:trendlineLabel>
  <cs:upBar>
    <cs:lnRef idx="0">
      <cs:styleClr val="0"/>
    </cs:lnRef>
    <cs:fillRef idx="0"/>
    <cs:effectRef idx="0"/>
    <cs:fontRef idx="minor">
      <a:schemeClr val="dk1"/>
    </cs:fontRef>
    <cs:spPr>
      <a:solidFill>
        <a:schemeClr val="lt1">
          <a:lumMod val="95000"/>
        </a:schemeClr>
      </a:solidFill>
      <a:ln w="9525">
        <a:solidFill>
          <a:schemeClr val="phClr">
            <a:lumMod val="60000"/>
            <a:lumOff val="40000"/>
          </a:schemeClr>
        </a:solidFill>
      </a:ln>
    </cs:spPr>
  </cs:upBar>
  <cs:valueAxis>
    <cs:lnRef idx="0"/>
    <cs:fillRef idx="0"/>
    <cs:effectRef idx="0"/>
    <cs:fontRef idx="minor">
      <a:schemeClr val="lt1"/>
    </cs:fontRef>
    <cs:defRPr sz="900" kern="1200"/>
  </cs:valueAxis>
  <cs:wall>
    <cs:lnRef idx="0"/>
    <cs:fillRef idx="0"/>
    <cs:effectRef idx="0"/>
    <cs:fontRef idx="minor">
      <a:schemeClr val="dk1"/>
    </cs:fontRef>
  </cs:wall>
</cs:chartStyl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20275E-5B5F-44EE-9DF2-34AB1DDC7104}" type="datetimeFigureOut">
              <a:rPr lang="en-US" smtClean="0"/>
              <a:t>11/10/2025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5B86DE7-614E-4988-8179-928B8AC8AEA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1092840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Database administrators and architects create or organize systems to store and secure data.</a:t>
            </a:r>
            <a:endParaRPr lang="en-US" b="0" i="0" dirty="0">
              <a:solidFill>
                <a:srgbClr val="BBBBBB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BBBBBB"/>
                </a:solidFill>
                <a:effectLst/>
                <a:latin typeface="-apple-system"/>
              </a:rPr>
              <a:t>Identify user needs to create and administer databases</a:t>
            </a:r>
            <a:endParaRPr lang="en-US" b="0" i="0" dirty="0">
              <a:solidFill>
                <a:srgbClr val="BBBBBB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BBBBBB"/>
                </a:solidFill>
                <a:effectLst/>
                <a:latin typeface="-apple-system"/>
              </a:rPr>
              <a:t>Design and build new databases</a:t>
            </a:r>
            <a:endParaRPr lang="en-US" b="0" i="0" dirty="0">
              <a:solidFill>
                <a:srgbClr val="BBBBBB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BBBBBB"/>
                </a:solidFill>
                <a:effectLst/>
                <a:latin typeface="-apple-system"/>
              </a:rPr>
              <a:t>Ensure that organizational data are secure</a:t>
            </a:r>
            <a:endParaRPr lang="en-US" b="0" i="0" dirty="0">
              <a:solidFill>
                <a:srgbClr val="BBBBBB"/>
              </a:solidFill>
              <a:effectLst/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1" dirty="0">
                <a:solidFill>
                  <a:srgbClr val="BBBBBB"/>
                </a:solidFill>
                <a:effectLst/>
                <a:latin typeface="-apple-system"/>
              </a:rPr>
              <a:t>Back up and restore data to prevent data loss</a:t>
            </a:r>
            <a:endParaRPr lang="en-US" b="0" i="0" dirty="0">
              <a:solidFill>
                <a:srgbClr val="BBBBBB"/>
              </a:solidFill>
              <a:effectLst/>
              <a:latin typeface="-apple-system"/>
            </a:endParaRP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24833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Recommended Education: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A bachelor's degree in a computer- or technology-related field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816441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Entry-Level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$52,000 - $74,000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Mid-Career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$95,500 - $137,500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Senior-Level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$121,000 - $149,000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59621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Entry-Level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$52,000 - $74,000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Mid-Career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$95,500 - $137,500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Senior-Level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$121,000 - $149,000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705029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Entry-Level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$52,000 - $74,000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Mid-Career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$95,500 - $137,500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Senior-Level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$121,000 - $149,000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133126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Entry-Level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$52,000 - $74,000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Mid-Career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$95,500 - $137,500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Senior-Level Salary Range: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$121,000 - $149,000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44944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or graphs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Growth Rate (next 10 years):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Employment Percent Change: -1.1%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Demand Level: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4%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786239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Picture or graphs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Growth Rate (next 10 years):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Employment Percent Change: -1.1%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BBBBBB"/>
                </a:solidFill>
                <a:effectLst/>
                <a:latin typeface="-apple-system"/>
              </a:rPr>
              <a:t>Demand Level:</a:t>
            </a: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 4%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902141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Programming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SQL/Databases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68154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Programming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SQL/Databases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1378610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Programming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[✓] SQL/Databases</a:t>
            </a:r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752226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On the left is salary by experience. On the right are ranges of recent salary data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634153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b="0" i="0" dirty="0">
                <a:solidFill>
                  <a:srgbClr val="BBBBBB"/>
                </a:solidFill>
                <a:effectLst/>
                <a:latin typeface="-apple-system"/>
              </a:rPr>
              <a:t>Some fun facts are that Database administrators and architects can advance to become computer and information systems managers, and experienced database administrators can advance to become database architects.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139634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5B86DE7-614E-4988-8179-928B8AC8AEA5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33847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B90A119-CC8D-4F8D-91D0-0084C190EA3E}"/>
              </a:ext>
            </a:extLst>
          </p:cNvPr>
          <p:cNvSpPr txBox="1"/>
          <p:nvPr userDrawn="1"/>
        </p:nvSpPr>
        <p:spPr>
          <a:xfrm>
            <a:off x="7848601" y="6488668"/>
            <a:ext cx="434339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/>
              <a:t>Lillian Ring | SEWD | Career Spotlight</a:t>
            </a:r>
          </a:p>
        </p:txBody>
      </p:sp>
    </p:spTree>
    <p:extLst>
      <p:ext uri="{BB962C8B-B14F-4D97-AF65-F5344CB8AC3E}">
        <p14:creationId xmlns:p14="http://schemas.microsoft.com/office/powerpoint/2010/main" val="42884537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93107845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chart" Target="../charts/char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bls.gov/ooh/computer-and-information-technology/database-administrators.htm" TargetMode="External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www.salary.com/research/salary/listing/database-administrator-senior-salary#:~:text=How%20Experience%20Level%20Affects%20Database,over%208%20years):%20$123%2C521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8494776" cy="982803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Database Administrators and Architects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72829" y="839049"/>
            <a:ext cx="2433211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November, 2025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0BE92FC4-DC87-4BAD-ACE9-23F1F347A2FA}"/>
              </a:ext>
            </a:extLst>
          </p:cNvPr>
          <p:cNvSpPr txBox="1">
            <a:spLocks/>
          </p:cNvSpPr>
          <p:nvPr/>
        </p:nvSpPr>
        <p:spPr>
          <a:xfrm>
            <a:off x="-37030" y="6432979"/>
            <a:ext cx="243321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sz="16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Class of 2026</a:t>
            </a:r>
          </a:p>
        </p:txBody>
      </p:sp>
    </p:spTree>
    <p:extLst>
      <p:ext uri="{BB962C8B-B14F-4D97-AF65-F5344CB8AC3E}">
        <p14:creationId xmlns:p14="http://schemas.microsoft.com/office/powerpoint/2010/main" val="121727290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reveal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What They Do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94871" y="1214303"/>
            <a:ext cx="10573657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administrators and architects create or organize systems to store and secure data.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1837944" y="2507079"/>
            <a:ext cx="8769096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Identify user needs to create and administer databases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1837944" y="3077730"/>
            <a:ext cx="6088280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Design and build new databases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6F20509C-2B6B-4151-B8CF-C3BAA4102E27}"/>
              </a:ext>
            </a:extLst>
          </p:cNvPr>
          <p:cNvSpPr txBox="1">
            <a:spLocks/>
          </p:cNvSpPr>
          <p:nvPr/>
        </p:nvSpPr>
        <p:spPr>
          <a:xfrm>
            <a:off x="1837943" y="3648381"/>
            <a:ext cx="8385373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Ensure that organizational data are secure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C26E3BF8-C451-41CA-935E-FB342E661EDB}"/>
              </a:ext>
            </a:extLst>
          </p:cNvPr>
          <p:cNvSpPr txBox="1">
            <a:spLocks/>
          </p:cNvSpPr>
          <p:nvPr/>
        </p:nvSpPr>
        <p:spPr>
          <a:xfrm>
            <a:off x="1837944" y="4219032"/>
            <a:ext cx="7707283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>
              <a:buFont typeface="Courier New" panose="02070309020205020404" pitchFamily="49" charset="0"/>
              <a:buChar char="o"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Back up and restore data to prevent data loss</a:t>
            </a:r>
          </a:p>
        </p:txBody>
      </p:sp>
    </p:spTree>
    <p:extLst>
      <p:ext uri="{BB962C8B-B14F-4D97-AF65-F5344CB8AC3E}">
        <p14:creationId xmlns:p14="http://schemas.microsoft.com/office/powerpoint/2010/main" val="807677850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683056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Education &amp; Skills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628921" y="2608725"/>
            <a:ext cx="3937640" cy="425021"/>
          </a:xfrm>
          <a:prstGeom prst="rect">
            <a:avLst/>
          </a:prstGeom>
        </p:spPr>
        <p:txBody>
          <a:bodyPr/>
          <a:lstStyle/>
          <a:p>
            <a:pPr marL="36900" indent="0" algn="ctr"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Structured Query Language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1340161" y="3172606"/>
            <a:ext cx="4515160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management systems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1674415" y="3708677"/>
            <a:ext cx="3846652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 modeling and design</a:t>
            </a:r>
          </a:p>
        </p:txBody>
      </p:sp>
      <p:sp>
        <p:nvSpPr>
          <p:cNvPr id="7" name="Subtitle 2">
            <a:extLst>
              <a:ext uri="{FF2B5EF4-FFF2-40B4-BE49-F238E27FC236}">
                <a16:creationId xmlns:a16="http://schemas.microsoft.com/office/drawing/2014/main" id="{B80AD259-1F1B-44E8-A120-2669CD79134A}"/>
              </a:ext>
            </a:extLst>
          </p:cNvPr>
          <p:cNvSpPr txBox="1">
            <a:spLocks/>
          </p:cNvSpPr>
          <p:nvPr/>
        </p:nvSpPr>
        <p:spPr>
          <a:xfrm>
            <a:off x="7530667" y="3172606"/>
            <a:ext cx="243321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Analytical skills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FBCB3B0C-DEA6-4836-BF50-9275737346B2}"/>
              </a:ext>
            </a:extLst>
          </p:cNvPr>
          <p:cNvSpPr txBox="1">
            <a:spLocks/>
          </p:cNvSpPr>
          <p:nvPr/>
        </p:nvSpPr>
        <p:spPr>
          <a:xfrm>
            <a:off x="7530668" y="2608725"/>
            <a:ext cx="243321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Detail oriented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656AEB4B-0DE7-4A43-A20B-D2450CAD977E}"/>
              </a:ext>
            </a:extLst>
          </p:cNvPr>
          <p:cNvSpPr txBox="1">
            <a:spLocks/>
          </p:cNvSpPr>
          <p:nvPr/>
        </p:nvSpPr>
        <p:spPr>
          <a:xfrm>
            <a:off x="7032290" y="3708676"/>
            <a:ext cx="3429963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Problem-solving skills</a:t>
            </a:r>
          </a:p>
        </p:txBody>
      </p:sp>
      <p:sp>
        <p:nvSpPr>
          <p:cNvPr id="10" name="Subtitle 2">
            <a:extLst>
              <a:ext uri="{FF2B5EF4-FFF2-40B4-BE49-F238E27FC236}">
                <a16:creationId xmlns:a16="http://schemas.microsoft.com/office/drawing/2014/main" id="{C14EF76A-26AE-4EB9-8C58-1C765BDD2FF3}"/>
              </a:ext>
            </a:extLst>
          </p:cNvPr>
          <p:cNvSpPr txBox="1">
            <a:spLocks/>
          </p:cNvSpPr>
          <p:nvPr/>
        </p:nvSpPr>
        <p:spPr>
          <a:xfrm>
            <a:off x="2381136" y="2110978"/>
            <a:ext cx="243321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Technical Skills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3FF4BE74-77F5-47D7-90DF-ED16B8FEE202}"/>
              </a:ext>
            </a:extLst>
          </p:cNvPr>
          <p:cNvSpPr txBox="1">
            <a:spLocks/>
          </p:cNvSpPr>
          <p:nvPr/>
        </p:nvSpPr>
        <p:spPr>
          <a:xfrm>
            <a:off x="7717360" y="2116185"/>
            <a:ext cx="2059829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 algn="ctr">
              <a:buFont typeface="Wingdings 2" charset="2"/>
              <a:buNone/>
            </a:pPr>
            <a:r>
              <a:rPr lang="en-US" sz="2400" b="1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Soft Skills</a:t>
            </a:r>
          </a:p>
        </p:txBody>
      </p:sp>
      <p:pic>
        <p:nvPicPr>
          <p:cNvPr id="12" name="Graphic 11" descr="Bar chart with solid fill">
            <a:extLst>
              <a:ext uri="{FF2B5EF4-FFF2-40B4-BE49-F238E27FC236}">
                <a16:creationId xmlns:a16="http://schemas.microsoft.com/office/drawing/2014/main" id="{6387B32F-DC7C-48E7-85E3-8A6B82C415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0541" y="1213927"/>
            <a:ext cx="914400" cy="914400"/>
          </a:xfrm>
          <a:prstGeom prst="rect">
            <a:avLst/>
          </a:prstGeom>
        </p:spPr>
      </p:pic>
      <p:pic>
        <p:nvPicPr>
          <p:cNvPr id="14" name="Graphic 13" descr="Graduation cap with solid fill">
            <a:extLst>
              <a:ext uri="{FF2B5EF4-FFF2-40B4-BE49-F238E27FC236}">
                <a16:creationId xmlns:a16="http://schemas.microsoft.com/office/drawing/2014/main" id="{CD6FF887-1BB1-485C-BC0D-E214DEA6AA3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377398" y="4779262"/>
            <a:ext cx="914400" cy="914400"/>
          </a:xfrm>
          <a:prstGeom prst="rect">
            <a:avLst/>
          </a:prstGeom>
        </p:spPr>
      </p:pic>
      <p:pic>
        <p:nvPicPr>
          <p:cNvPr id="16" name="Graphic 15" descr="Magnifying glass with solid fill">
            <a:extLst>
              <a:ext uri="{FF2B5EF4-FFF2-40B4-BE49-F238E27FC236}">
                <a16:creationId xmlns:a16="http://schemas.microsoft.com/office/drawing/2014/main" id="{B2734936-41D7-462D-BBD4-544EB06C6B0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290071" y="1210294"/>
            <a:ext cx="914400" cy="914400"/>
          </a:xfrm>
          <a:prstGeom prst="rect">
            <a:avLst/>
          </a:prstGeom>
        </p:spPr>
      </p:pic>
      <p:sp>
        <p:nvSpPr>
          <p:cNvPr id="17" name="TextBox 16">
            <a:extLst>
              <a:ext uri="{FF2B5EF4-FFF2-40B4-BE49-F238E27FC236}">
                <a16:creationId xmlns:a16="http://schemas.microsoft.com/office/drawing/2014/main" id="{BA8B3B7B-E51A-4AD6-9488-5F27A8E992FC}"/>
              </a:ext>
            </a:extLst>
          </p:cNvPr>
          <p:cNvSpPr txBox="1"/>
          <p:nvPr/>
        </p:nvSpPr>
        <p:spPr>
          <a:xfrm>
            <a:off x="2229339" y="4961587"/>
            <a:ext cx="7733321" cy="1200329"/>
          </a:xfrm>
          <a:prstGeom prst="rect">
            <a:avLst/>
          </a:prstGeom>
        </p:spPr>
        <p:txBody>
          <a:bodyPr/>
          <a:lstStyle>
            <a:defPPr>
              <a:defRPr lang="en-US"/>
            </a:defPPr>
            <a:lvl1pPr marL="36900" indent="0" algn="ctr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None/>
              <a:defRPr sz="2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defRPr>
            </a:lvl1pPr>
            <a:lvl2pPr marL="720000" indent="-270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2pPr>
            <a:lvl3pPr marL="1026000" indent="-216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3pPr>
            <a:lvl4pPr marL="1386000" indent="-216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4pPr>
            <a:lvl5pPr marL="1674000" indent="-2160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5pPr>
            <a:lvl6pPr marL="20146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6pPr>
            <a:lvl7pPr marL="24018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7pPr>
            <a:lvl8pPr marL="27890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8pPr>
            <a:lvl9pPr marL="3106200" indent="-228600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</a:defRPr>
            </a:lvl9pPr>
          </a:lstStyle>
          <a:p>
            <a:r>
              <a:rPr lang="en-US" dirty="0"/>
              <a:t>Minimum Education: Bachelor's degree in a computer- or technology-related field</a:t>
            </a:r>
          </a:p>
        </p:txBody>
      </p:sp>
    </p:spTree>
    <p:extLst>
      <p:ext uri="{BB962C8B-B14F-4D97-AF65-F5344CB8AC3E}">
        <p14:creationId xmlns:p14="http://schemas.microsoft.com/office/powerpoint/2010/main" val="2864884286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Salary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59413" y="1707729"/>
            <a:ext cx="6679180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Entry-Level Salary Range: $52,000 - $74,000</a:t>
            </a:r>
          </a:p>
          <a:p>
            <a:pPr marL="36900" indent="0"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2559413" y="2271609"/>
            <a:ext cx="6679180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Mid-Career Salary Range: $95,500 - $137,500</a:t>
            </a:r>
          </a:p>
          <a:p>
            <a:pPr marL="36900" indent="0">
              <a:buFont typeface="Wingdings 2" charset="2"/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2559413" y="2835489"/>
            <a:ext cx="639540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Senior-Level Salary Range: $121,000 - $149,000</a:t>
            </a:r>
          </a:p>
        </p:txBody>
      </p:sp>
    </p:spTree>
    <p:extLst>
      <p:ext uri="{BB962C8B-B14F-4D97-AF65-F5344CB8AC3E}">
        <p14:creationId xmlns:p14="http://schemas.microsoft.com/office/powerpoint/2010/main" val="226265364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Salary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1193035" y="1920240"/>
            <a:ext cx="10084532" cy="646588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sz="4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Entry-Level Salary Range: $52,000 - $74,000</a:t>
            </a:r>
          </a:p>
          <a:p>
            <a:pPr marL="36900" indent="0"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2559413" y="3671700"/>
            <a:ext cx="6679180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Mid-Career Salary Range: $95,500 - $137,500</a:t>
            </a:r>
          </a:p>
          <a:p>
            <a:pPr marL="36900" indent="0">
              <a:buFont typeface="Wingdings 2" charset="2"/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2559413" y="4338468"/>
            <a:ext cx="639540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Senior-Level Salary Range: $121,000 - $149,000</a:t>
            </a:r>
          </a:p>
        </p:txBody>
      </p:sp>
    </p:spTree>
    <p:extLst>
      <p:ext uri="{BB962C8B-B14F-4D97-AF65-F5344CB8AC3E}">
        <p14:creationId xmlns:p14="http://schemas.microsoft.com/office/powerpoint/2010/main" val="148532479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Salary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59413" y="1353062"/>
            <a:ext cx="6679180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Entry-Level Salary Range: $52,000 - $74,000</a:t>
            </a:r>
          </a:p>
          <a:p>
            <a:pPr marL="36900" indent="0"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972350" y="2304515"/>
            <a:ext cx="10589028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sz="4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Mid-Career Salary Range: $95,500 - $137,500</a:t>
            </a:r>
          </a:p>
          <a:p>
            <a:pPr marL="36900" indent="0">
              <a:buFont typeface="Wingdings 2" charset="2"/>
              <a:buNone/>
            </a:pPr>
            <a:endParaRPr lang="en-US" sz="4000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2559413" y="3962004"/>
            <a:ext cx="6395401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Senior-Level Salary Range: $121,000 - $149,000</a:t>
            </a:r>
          </a:p>
        </p:txBody>
      </p:sp>
    </p:spTree>
    <p:extLst>
      <p:ext uri="{BB962C8B-B14F-4D97-AF65-F5344CB8AC3E}">
        <p14:creationId xmlns:p14="http://schemas.microsoft.com/office/powerpoint/2010/main" val="32956158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Salary Snapshot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2559413" y="1707729"/>
            <a:ext cx="6679180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Entry-Level Salary Range: $52,000 - $74,000</a:t>
            </a:r>
          </a:p>
          <a:p>
            <a:pPr marL="36900" indent="0"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2559413" y="2271609"/>
            <a:ext cx="6679180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Mid-Career Salary Range: $95,500 - $137,500</a:t>
            </a:r>
          </a:p>
          <a:p>
            <a:pPr marL="36900" indent="0">
              <a:buFont typeface="Wingdings 2" charset="2"/>
              <a:buNone/>
            </a:pPr>
            <a:endParaRPr lang="en-US" dirty="0"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CB62B65-66BC-4BA8-8BDF-DAEC2DE4D7A9}"/>
              </a:ext>
            </a:extLst>
          </p:cNvPr>
          <p:cNvSpPr txBox="1">
            <a:spLocks/>
          </p:cNvSpPr>
          <p:nvPr/>
        </p:nvSpPr>
        <p:spPr>
          <a:xfrm>
            <a:off x="662151" y="3216489"/>
            <a:ext cx="11151475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sz="40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Senior-Level Salary Range: $121,000 - $149,000</a:t>
            </a:r>
          </a:p>
        </p:txBody>
      </p:sp>
    </p:spTree>
    <p:extLst>
      <p:ext uri="{BB962C8B-B14F-4D97-AF65-F5344CB8AC3E}">
        <p14:creationId xmlns:p14="http://schemas.microsoft.com/office/powerpoint/2010/main" val="96848741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Job Outlook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727861" y="1346805"/>
            <a:ext cx="4989787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Architects projected 2024 - 2034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2057473" y="3663398"/>
            <a:ext cx="8463384" cy="1417522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demand for database administrators may be limited due to the increased efficiency of cloud computing and a trend of existing DBAs upskilling into other roles like database architects or software developers.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26531AF-A7C1-4AC0-B82C-7B74ACF165B5}"/>
              </a:ext>
            </a:extLst>
          </p:cNvPr>
          <p:cNvSpPr txBox="1">
            <a:spLocks/>
          </p:cNvSpPr>
          <p:nvPr/>
        </p:nvSpPr>
        <p:spPr>
          <a:xfrm>
            <a:off x="168165" y="1346805"/>
            <a:ext cx="5664932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Administrators projected 2024 - 2034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06005799-FC24-4C73-9953-A439EFD0CE06}"/>
              </a:ext>
            </a:extLst>
          </p:cNvPr>
          <p:cNvSpPr txBox="1">
            <a:spLocks/>
          </p:cNvSpPr>
          <p:nvPr/>
        </p:nvSpPr>
        <p:spPr>
          <a:xfrm>
            <a:off x="1799791" y="1771826"/>
            <a:ext cx="1876097" cy="1233485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sz="7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-1%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853F30E2-D789-46CB-A85E-7237BCFC3462}"/>
              </a:ext>
            </a:extLst>
          </p:cNvPr>
          <p:cNvSpPr txBox="1">
            <a:spLocks/>
          </p:cNvSpPr>
          <p:nvPr/>
        </p:nvSpPr>
        <p:spPr>
          <a:xfrm>
            <a:off x="8435755" y="1771825"/>
            <a:ext cx="1573997" cy="1233485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sz="7200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9%</a:t>
            </a:r>
          </a:p>
        </p:txBody>
      </p:sp>
    </p:spTree>
    <p:extLst>
      <p:ext uri="{BB962C8B-B14F-4D97-AF65-F5344CB8AC3E}">
        <p14:creationId xmlns:p14="http://schemas.microsoft.com/office/powerpoint/2010/main" val="1555709739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Job Outlook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6727861" y="1151062"/>
            <a:ext cx="4989787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Architects projected 2024 - 2034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848781" y="2049409"/>
            <a:ext cx="10470860" cy="868334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The demand for database administrators may be limited due to the increased efficiency of cloud computing and a trend of existing DBAs upskilling into other roles like database architects or software developers.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226531AF-A7C1-4AC0-B82C-7B74ACF165B5}"/>
              </a:ext>
            </a:extLst>
          </p:cNvPr>
          <p:cNvSpPr txBox="1">
            <a:spLocks/>
          </p:cNvSpPr>
          <p:nvPr/>
        </p:nvSpPr>
        <p:spPr>
          <a:xfrm>
            <a:off x="6390289" y="647025"/>
            <a:ext cx="5664932" cy="42502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Administrators projected 2024 - 2034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EB8E2FED-06D6-4259-84BA-EB72B110CAD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85442" y="3940257"/>
            <a:ext cx="7821116" cy="19624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03158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-1" y="68757"/>
            <a:ext cx="5842535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Coursework Connection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B42C4-57C3-4F9C-9193-A25948470B26}"/>
              </a:ext>
            </a:extLst>
          </p:cNvPr>
          <p:cNvSpPr txBox="1"/>
          <p:nvPr/>
        </p:nvSpPr>
        <p:spPr>
          <a:xfrm>
            <a:off x="-304801" y="824734"/>
            <a:ext cx="491884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65760">
              <a:buClr>
                <a:schemeClr val="tx2"/>
              </a:buClr>
              <a:buSzPct val="70000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Intro to Computer Science ]</a:t>
            </a:r>
          </a:p>
          <a:p>
            <a:pPr marL="365760">
              <a:buClr>
                <a:schemeClr val="tx2"/>
              </a:buClr>
              <a:buSzPct val="70000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Logic, problem-solving)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15999-2497-4597-8F5B-8117E9071C15}"/>
              </a:ext>
            </a:extLst>
          </p:cNvPr>
          <p:cNvSpPr txBox="1"/>
          <p:nvPr/>
        </p:nvSpPr>
        <p:spPr>
          <a:xfrm>
            <a:off x="-53769" y="1668142"/>
            <a:ext cx="8807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Programming Fundamentals (e.g., Python, Java) ] 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Scripting basics, understanding application interaction)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7027F-1F4B-42B9-8024-9CB53E957BF4}"/>
              </a:ext>
            </a:extLst>
          </p:cNvPr>
          <p:cNvSpPr txBox="1"/>
          <p:nvPr/>
        </p:nvSpPr>
        <p:spPr>
          <a:xfrm>
            <a:off x="0" y="2418069"/>
            <a:ext cx="10962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Data Structures &amp; Algorithms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Understanding how data is stored/retrieved efficiently, B-trees, hashing)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A4416-7513-4207-8D3A-CB4704FE76E3}"/>
              </a:ext>
            </a:extLst>
          </p:cNvPr>
          <p:cNvSpPr txBox="1"/>
          <p:nvPr/>
        </p:nvSpPr>
        <p:spPr>
          <a:xfrm>
            <a:off x="0" y="3184634"/>
            <a:ext cx="12002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Operating (e.g., Linux/Windows Server)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File systems, memory management, process control, server Systems environment)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E4206-22F4-4EB4-85BB-18F341102029}"/>
              </a:ext>
            </a:extLst>
          </p:cNvPr>
          <p:cNvSpPr txBox="1"/>
          <p:nvPr/>
        </p:nvSpPr>
        <p:spPr>
          <a:xfrm>
            <a:off x="0" y="4756666"/>
            <a:ext cx="8807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Introduction to Databases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Relational theory, data modeling, normalization, basic SQL (CRUD))</a:t>
            </a:r>
          </a:p>
        </p:txBody>
      </p:sp>
    </p:spTree>
    <p:extLst>
      <p:ext uri="{BB962C8B-B14F-4D97-AF65-F5344CB8AC3E}">
        <p14:creationId xmlns:p14="http://schemas.microsoft.com/office/powerpoint/2010/main" val="153996435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-1" y="68757"/>
            <a:ext cx="5842535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Coursework Connection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15999-2497-4597-8F5B-8117E9071C15}"/>
              </a:ext>
            </a:extLst>
          </p:cNvPr>
          <p:cNvSpPr txBox="1"/>
          <p:nvPr/>
        </p:nvSpPr>
        <p:spPr>
          <a:xfrm>
            <a:off x="135416" y="2372325"/>
            <a:ext cx="1205658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Advanced Database Systems / Advanced SQL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Complex queries, stored procedures, triggers, transaction management (ACID), indexing)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7027F-1F4B-42B9-8024-9CB53E957BF4}"/>
              </a:ext>
            </a:extLst>
          </p:cNvPr>
          <p:cNvSpPr txBox="1"/>
          <p:nvPr/>
        </p:nvSpPr>
        <p:spPr>
          <a:xfrm>
            <a:off x="135417" y="3410607"/>
            <a:ext cx="12056583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 Database Administration (The Core DBA Course) 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Security &amp; user access control, backup &amp; recovery strategies, performance tuning &amp; optimization, database installation &amp; configuration)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C19E4206-22F4-4EB4-85BB-18F341102029}"/>
              </a:ext>
            </a:extLst>
          </p:cNvPr>
          <p:cNvSpPr txBox="1"/>
          <p:nvPr/>
        </p:nvSpPr>
        <p:spPr>
          <a:xfrm>
            <a:off x="135416" y="1334043"/>
            <a:ext cx="8807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Introduction to Databases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Relational theory, data modeling, normalization, basic SQL (CRUD))</a:t>
            </a:r>
          </a:p>
        </p:txBody>
      </p:sp>
    </p:spTree>
    <p:extLst>
      <p:ext uri="{BB962C8B-B14F-4D97-AF65-F5344CB8AC3E}">
        <p14:creationId xmlns:p14="http://schemas.microsoft.com/office/powerpoint/2010/main" val="146396254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-1" y="68757"/>
            <a:ext cx="5842535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Coursework Connection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0CB42C4-57C3-4F9C-9193-A25948470B26}"/>
              </a:ext>
            </a:extLst>
          </p:cNvPr>
          <p:cNvSpPr txBox="1"/>
          <p:nvPr/>
        </p:nvSpPr>
        <p:spPr>
          <a:xfrm>
            <a:off x="177455" y="1440667"/>
            <a:ext cx="786295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91440">
              <a:buClr>
                <a:schemeClr val="tx2"/>
              </a:buClr>
              <a:buSzPct val="70000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Data Warehousing &amp; BI ]</a:t>
            </a:r>
          </a:p>
          <a:p>
            <a:pPr marL="91440">
              <a:buClr>
                <a:schemeClr val="tx2"/>
              </a:buClr>
              <a:buSzPct val="70000"/>
            </a:pPr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ETL processes, OLAP, analytics support)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FB15999-2497-4597-8F5B-8117E9071C15}"/>
              </a:ext>
            </a:extLst>
          </p:cNvPr>
          <p:cNvSpPr txBox="1"/>
          <p:nvPr/>
        </p:nvSpPr>
        <p:spPr>
          <a:xfrm>
            <a:off x="304798" y="2489479"/>
            <a:ext cx="880767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Cloud Computing (AWS/Azure)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Managed services (RDS), cloud deployment, high availability)</a:t>
            </a:r>
            <a:endParaRPr lang="en-US" sz="20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C17027F-1F4B-42B9-8024-9CB53E957BF4}"/>
              </a:ext>
            </a:extLst>
          </p:cNvPr>
          <p:cNvSpPr txBox="1"/>
          <p:nvPr/>
        </p:nvSpPr>
        <p:spPr>
          <a:xfrm>
            <a:off x="304798" y="3538291"/>
            <a:ext cx="1096228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Networking &amp; Security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Firewalls, data encryption, network protocols)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2CA4416-7513-4207-8D3A-CB4704FE76E3}"/>
              </a:ext>
            </a:extLst>
          </p:cNvPr>
          <p:cNvSpPr txBox="1"/>
          <p:nvPr/>
        </p:nvSpPr>
        <p:spPr>
          <a:xfrm>
            <a:off x="304798" y="4571998"/>
            <a:ext cx="120028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[ Big Data Systems (NoSQL) ]</a:t>
            </a:r>
          </a:p>
          <a:p>
            <a:r>
              <a:rPr lang="en-US" sz="2000" dirty="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(Skills: Hadoop, MongoDB, non-relational data)</a:t>
            </a:r>
          </a:p>
        </p:txBody>
      </p:sp>
    </p:spTree>
    <p:extLst>
      <p:ext uri="{BB962C8B-B14F-4D97-AF65-F5344CB8AC3E}">
        <p14:creationId xmlns:p14="http://schemas.microsoft.com/office/powerpoint/2010/main" val="137547398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Trend Chart</a:t>
            </a:r>
          </a:p>
        </p:txBody>
      </p:sp>
      <p:graphicFrame>
        <p:nvGraphicFramePr>
          <p:cNvPr id="8" name="Chart 7">
            <a:extLst>
              <a:ext uri="{FF2B5EF4-FFF2-40B4-BE49-F238E27FC236}">
                <a16:creationId xmlns:a16="http://schemas.microsoft.com/office/drawing/2014/main" id="{F8DF1CD2-124C-44E7-8213-24ECBA93E15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3403827076"/>
              </p:ext>
            </p:extLst>
          </p:nvPr>
        </p:nvGraphicFramePr>
        <p:xfrm>
          <a:off x="0" y="1700592"/>
          <a:ext cx="7138930" cy="357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9" name="Chart 8">
            <a:extLst>
              <a:ext uri="{FF2B5EF4-FFF2-40B4-BE49-F238E27FC236}">
                <a16:creationId xmlns:a16="http://schemas.microsoft.com/office/drawing/2014/main" id="{054C8BC2-F305-4B7C-A784-C66C7933A8D4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242051485"/>
              </p:ext>
            </p:extLst>
          </p:nvPr>
        </p:nvGraphicFramePr>
        <p:xfrm>
          <a:off x="7034269" y="1700592"/>
          <a:ext cx="5157731" cy="3573734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A8E8C282-C718-4A57-8F9D-3A51B67A9E1F}"/>
              </a:ext>
            </a:extLst>
          </p:cNvPr>
          <p:cNvSpPr txBox="1"/>
          <p:nvPr/>
        </p:nvSpPr>
        <p:spPr>
          <a:xfrm>
            <a:off x="0" y="5360276"/>
            <a:ext cx="8471338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dirty="0"/>
              <a:t>https://www.salary.com; https://www.bls.gov</a:t>
            </a:r>
          </a:p>
        </p:txBody>
      </p:sp>
    </p:spTree>
    <p:extLst>
      <p:ext uri="{BB962C8B-B14F-4D97-AF65-F5344CB8AC3E}">
        <p14:creationId xmlns:p14="http://schemas.microsoft.com/office/powerpoint/2010/main" val="123036205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Interesting Facts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082180B-9BDD-4FE4-A42D-449871CFE6EA}"/>
              </a:ext>
            </a:extLst>
          </p:cNvPr>
          <p:cNvSpPr>
            <a:spLocks noGrp="1"/>
          </p:cNvSpPr>
          <p:nvPr>
            <p:ph type="subTitle" idx="4294967295"/>
          </p:nvPr>
        </p:nvSpPr>
        <p:spPr>
          <a:xfrm>
            <a:off x="449887" y="1358115"/>
            <a:ext cx="11592910" cy="425021"/>
          </a:xfrm>
          <a:prstGeom prst="rect">
            <a:avLst/>
          </a:prstGeom>
        </p:spPr>
        <p:txBody>
          <a:bodyPr/>
          <a:lstStyle/>
          <a:p>
            <a:pPr marL="36900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administrators and architects can advance to become computer and information systems managers, and experienced database administrators can advance to become database architects.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449887" y="2589547"/>
            <a:ext cx="10462905" cy="79741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Database administrators (DBAs) are sometimes called "data caretakers" or "guardians" because their job is to keep data safe, accessible, and running smoothly.</a:t>
            </a:r>
          </a:p>
        </p:txBody>
      </p:sp>
    </p:spTree>
    <p:extLst>
      <p:ext uri="{BB962C8B-B14F-4D97-AF65-F5344CB8AC3E}">
        <p14:creationId xmlns:p14="http://schemas.microsoft.com/office/powerpoint/2010/main" val="1144481714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p14:dur="250">
        <p:fade/>
      </p:transition>
    </mc:Choice>
    <mc:Fallback>
      <p:transition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D05DA-4CBB-425E-83E2-2530ECDAAB59}"/>
              </a:ext>
            </a:extLst>
          </p:cNvPr>
          <p:cNvSpPr>
            <a:spLocks noGrp="1"/>
          </p:cNvSpPr>
          <p:nvPr>
            <p:ph type="ctrTitle" idx="4294967295"/>
          </p:nvPr>
        </p:nvSpPr>
        <p:spPr>
          <a:xfrm>
            <a:off x="0" y="68757"/>
            <a:ext cx="3675888" cy="790779"/>
          </a:xfrm>
          <a:prstGeom prst="rect">
            <a:avLst/>
          </a:prstGeom>
        </p:spPr>
        <p:txBody>
          <a:bodyPr/>
          <a:lstStyle/>
          <a:p>
            <a:pPr algn="l"/>
            <a:r>
              <a:rPr lang="en-US" b="1" dirty="0">
                <a:latin typeface="Eras Light ITC" panose="020B0402030504020804" pitchFamily="34" charset="0"/>
              </a:rPr>
              <a:t>References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6986108A-9216-4509-84FB-09540F72C941}"/>
              </a:ext>
            </a:extLst>
          </p:cNvPr>
          <p:cNvSpPr txBox="1">
            <a:spLocks/>
          </p:cNvSpPr>
          <p:nvPr/>
        </p:nvSpPr>
        <p:spPr>
          <a:xfrm>
            <a:off x="284843" y="859536"/>
            <a:ext cx="11556637" cy="1923201"/>
          </a:xfrm>
          <a:prstGeom prst="rect">
            <a:avLst/>
          </a:prstGeom>
        </p:spPr>
        <p:txBody>
          <a:bodyPr/>
          <a:lstStyle>
            <a:lvl1pPr marL="342900" indent="-30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20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1pPr>
            <a:lvl2pPr marL="720000" indent="-270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8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2pPr>
            <a:lvl3pPr marL="102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6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3pPr>
            <a:lvl4pPr marL="1386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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4pPr>
            <a:lvl5pPr marL="1674000" indent="-2160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5pPr>
            <a:lvl6pPr marL="20146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6pPr>
            <a:lvl7pPr marL="24018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7pPr>
            <a:lvl8pPr marL="27890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8pPr>
            <a:lvl9pPr marL="3106200" indent="-228600" algn="l" defTabSz="457200" rtl="0" eaLnBrk="1" latinLnBrk="0" hangingPunct="1">
              <a:spcBef>
                <a:spcPct val="20000"/>
              </a:spcBef>
              <a:spcAft>
                <a:spcPts val="600"/>
              </a:spcAft>
              <a:buClr>
                <a:schemeClr val="tx2"/>
              </a:buClr>
              <a:buSzPct val="70000"/>
              <a:buFont typeface="Wingdings 2" charset="2"/>
              <a:buChar char=""/>
              <a:defRPr sz="1400" kern="1200">
                <a:ln>
                  <a:solidFill>
                    <a:schemeClr val="bg1">
                      <a:lumMod val="75000"/>
                      <a:lumOff val="25000"/>
                      <a:alpha val="10000"/>
                    </a:schemeClr>
                  </a:solidFill>
                </a:ln>
                <a:solidFill>
                  <a:schemeClr val="tx2"/>
                </a:solidFill>
                <a:effectLst>
                  <a:outerShdw blurRad="9525" dist="25400" dir="14640000" algn="tl" rotWithShape="0">
                    <a:schemeClr val="bg1">
                      <a:alpha val="30000"/>
                    </a:schemeClr>
                  </a:outerShdw>
                </a:effectLst>
                <a:latin typeface="+mn-lt"/>
                <a:ea typeface="+mn-ea"/>
                <a:cs typeface="+mn-cs"/>
              </a:defRPr>
            </a:lvl9pPr>
          </a:lstStyle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Bureau of Labor Statistics &amp; U.S. Department of Labor. (2025, August 28). Database Administrators 	and Architects : Occupational Outlook Handbook: : U.S. Bureau of Labor Statistics. Retrieved 	November 4, 2025, from </a:t>
            </a:r>
          </a:p>
          <a:p>
            <a:pPr marL="36900" indent="0">
              <a:buFont typeface="Wingdings 2" charset="2"/>
              <a:buNone/>
            </a:pPr>
            <a:r>
              <a:rPr lang="en-US" dirty="0">
                <a:solidFill>
                  <a:srgbClr val="E98052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	</a:t>
            </a:r>
            <a:r>
              <a:rPr lang="en-US" dirty="0">
                <a:solidFill>
                  <a:srgbClr val="E98052"/>
                </a:solidFill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https://www.bls.gov/ooh/computer-and-information-technology/database-administrators.htm</a:t>
            </a:r>
            <a:endParaRPr lang="en-US" dirty="0">
              <a:solidFill>
                <a:srgbClr val="E98052"/>
              </a:solidFill>
              <a:latin typeface="Ebrima" panose="02000000000000000000" pitchFamily="2" charset="0"/>
              <a:ea typeface="Ebrima" panose="02000000000000000000" pitchFamily="2" charset="0"/>
              <a:cs typeface="Ebrima" panose="02000000000000000000" pitchFamily="2" charset="0"/>
            </a:endParaRPr>
          </a:p>
          <a:p>
            <a:pPr marL="36900" indent="0">
              <a:buFont typeface="Wingdings 2" charset="2"/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salary.com. (2025, 11 1). Database Administrator Senior Salary in the United States. Salary.com. Retrieved 11 7, 2025, from</a:t>
            </a:r>
          </a:p>
          <a:p>
            <a:pPr marL="414000" lvl="1" indent="0">
              <a:buNone/>
            </a:pP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  <a:hlinkClick r:id="rId4"/>
              </a:rPr>
              <a:t>https://www.salary.com/research/salary/listing/database-administrator-senior-salary#:~:text=How%20Experience%20Level%20Affects%20Database,over%208%20years):%20$123%2C521</a:t>
            </a:r>
            <a:r>
              <a:rPr lang="en-US" dirty="0">
                <a:latin typeface="Ebrima" panose="02000000000000000000" pitchFamily="2" charset="0"/>
                <a:ea typeface="Ebrima" panose="02000000000000000000" pitchFamily="2" charset="0"/>
                <a:cs typeface="Ebrima" panose="02000000000000000000" pitchFamily="2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98307794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44546A"/>
    </a:dk2>
    <a:lt2>
      <a:srgbClr val="E7E6E6"/>
    </a:lt2>
    <a:accent1>
      <a:srgbClr val="4472C4"/>
    </a:accent1>
    <a:accent2>
      <a:srgbClr val="ED7D31"/>
    </a:accent2>
    <a:accent3>
      <a:srgbClr val="A5A5A5"/>
    </a:accent3>
    <a:accent4>
      <a:srgbClr val="FFC000"/>
    </a:accent4>
    <a:accent5>
      <a:srgbClr val="5B9BD5"/>
    </a:accent5>
    <a:accent6>
      <a:srgbClr val="70AD47"/>
    </a:accent6>
    <a:hlink>
      <a:srgbClr val="0563C1"/>
    </a:hlink>
    <a:folHlink>
      <a:srgbClr val="954F72"/>
    </a:folHlink>
  </a:clrScheme>
  <a:fontScheme name="Office">
    <a:majorFont>
      <a:latin typeface="Calibri Light" panose="020F0302020204030204"/>
      <a:ea typeface=""/>
      <a:cs typeface=""/>
      <a:font script="Jpan" typeface="游ゴシック Light"/>
      <a:font script="Hang" typeface="맑은 고딕"/>
      <a:font script="Hans" typeface="等线 Light"/>
      <a:font script="Hant" typeface="新細明體"/>
      <a:font script="Arab" typeface="Times New Roman"/>
      <a:font script="Hebr" typeface="Times New Roman"/>
      <a:font script="Thai" typeface="Tahoma"/>
      <a:font script="Ethi" typeface="Nyala"/>
      <a:font script="Beng" typeface="Vrinda"/>
      <a:font script="Gujr" typeface="Shruti"/>
      <a:font script="Khmr" typeface="MoolBoran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Times New Roman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ajorFont>
    <a:minorFont>
      <a:latin typeface="Calibri" panose="020F0502020204030204"/>
      <a:ea typeface=""/>
      <a:cs typeface=""/>
      <a:font script="Jpan" typeface="游ゴシック"/>
      <a:font script="Hang" typeface="맑은 고딕"/>
      <a:font script="Hans" typeface="等线"/>
      <a:font script="Hant" typeface="新細明體"/>
      <a:font script="Arab" typeface="Arial"/>
      <a:font script="Hebr" typeface="Arial"/>
      <a:font script="Thai" typeface="Tahoma"/>
      <a:font script="Ethi" typeface="Nyala"/>
      <a:font script="Beng" typeface="Vrinda"/>
      <a:font script="Gujr" typeface="Shruti"/>
      <a:font script="Khmr" typeface="DaunPenh"/>
      <a:font script="Knda" typeface="Tunga"/>
      <a:font script="Guru" typeface="Raavi"/>
      <a:font script="Cans" typeface="Euphemia"/>
      <a:font script="Cher" typeface="Plantagenet Cherokee"/>
      <a:font script="Yiii" typeface="Microsoft Yi Baiti"/>
      <a:font script="Tibt" typeface="Microsoft Himalaya"/>
      <a:font script="Thaa" typeface="MV Boli"/>
      <a:font script="Deva" typeface="Mangal"/>
      <a:font script="Telu" typeface="Gautami"/>
      <a:font script="Taml" typeface="Latha"/>
      <a:font script="Syrc" typeface="Estrangelo Edessa"/>
      <a:font script="Orya" typeface="Kalinga"/>
      <a:font script="Mlym" typeface="Kartika"/>
      <a:font script="Laoo" typeface="DokChampa"/>
      <a:font script="Sinh" typeface="Iskoola Pota"/>
      <a:font script="Mong" typeface="Mongolian Baiti"/>
      <a:font script="Viet" typeface="Arial"/>
      <a:font script="Uigh" typeface="Microsoft Uighur"/>
      <a:font script="Geor" typeface="Sylfaen"/>
      <a:font script="Armn" typeface="Arial"/>
      <a:font script="Bugi" typeface="Leelawadee UI"/>
      <a:font script="Bopo" typeface="Microsoft JhengHei"/>
      <a:font script="Java" typeface="Javanese Text"/>
      <a:font script="Lisu" typeface="Segoe UI"/>
      <a:font script="Mymr" typeface="Myanmar Text"/>
      <a:font script="Nkoo" typeface="Ebrima"/>
      <a:font script="Olck" typeface="Nirmala UI"/>
      <a:font script="Osma" typeface="Ebrima"/>
      <a:font script="Phag" typeface="Phagspa"/>
      <a:font script="Syrn" typeface="Estrangelo Edessa"/>
      <a:font script="Syrj" typeface="Estrangelo Edessa"/>
      <a:font script="Syre" typeface="Estrangelo Edessa"/>
      <a:font script="Sora" typeface="Nirmala UI"/>
      <a:font script="Tale" typeface="Microsoft Tai Le"/>
      <a:font script="Talu" typeface="Microsoft New Tai Lue"/>
      <a:font script="Tfng" typeface="Ebrima"/>
    </a:minorFont>
  </a:fontScheme>
  <a:fmtScheme name="Office">
    <a:fillStyleLst>
      <a:solidFill>
        <a:schemeClr val="phClr"/>
      </a:solidFill>
      <a:gradFill rotWithShape="1">
        <a:gsLst>
          <a:gs pos="0">
            <a:schemeClr val="phClr">
              <a:lumMod val="110000"/>
              <a:satMod val="105000"/>
              <a:tint val="67000"/>
            </a:schemeClr>
          </a:gs>
          <a:gs pos="50000">
            <a:schemeClr val="phClr">
              <a:lumMod val="105000"/>
              <a:satMod val="103000"/>
              <a:tint val="73000"/>
            </a:schemeClr>
          </a:gs>
          <a:gs pos="100000">
            <a:schemeClr val="phClr">
              <a:lumMod val="105000"/>
              <a:satMod val="109000"/>
              <a:tint val="81000"/>
            </a:schemeClr>
          </a:gs>
        </a:gsLst>
        <a:lin ang="5400000" scaled="0"/>
      </a:gradFill>
      <a:gradFill rotWithShape="1">
        <a:gsLst>
          <a:gs pos="0">
            <a:schemeClr val="phClr">
              <a:satMod val="103000"/>
              <a:lumMod val="102000"/>
              <a:tint val="94000"/>
            </a:schemeClr>
          </a:gs>
          <a:gs pos="50000">
            <a:schemeClr val="phClr">
              <a:satMod val="110000"/>
              <a:lumMod val="100000"/>
              <a:shade val="100000"/>
            </a:schemeClr>
          </a:gs>
          <a:gs pos="100000">
            <a:schemeClr val="phClr">
              <a:lumMod val="99000"/>
              <a:satMod val="120000"/>
              <a:shade val="78000"/>
            </a:schemeClr>
          </a:gs>
        </a:gsLst>
        <a:lin ang="5400000" scaled="0"/>
      </a:gradFill>
    </a:fillStyleLst>
    <a:lnStyleLst>
      <a:ln w="6350" cap="flat" cmpd="sng" algn="ctr">
        <a:solidFill>
          <a:schemeClr val="phClr"/>
        </a:solidFill>
        <a:prstDash val="solid"/>
        <a:miter lim="800000"/>
      </a:ln>
      <a:ln w="12700" cap="flat" cmpd="sng" algn="ctr">
        <a:solidFill>
          <a:schemeClr val="phClr"/>
        </a:solidFill>
        <a:prstDash val="solid"/>
        <a:miter lim="800000"/>
      </a:ln>
      <a:ln w="19050" cap="flat" cmpd="sng" algn="ctr">
        <a:solidFill>
          <a:schemeClr val="phClr"/>
        </a:solidFill>
        <a:prstDash val="solid"/>
        <a:miter lim="800000"/>
      </a:ln>
    </a:lnStyleLst>
    <a:effectStyleLst>
      <a:effectStyle>
        <a:effectLst/>
      </a:effectStyle>
      <a:effectStyle>
        <a:effectLst/>
      </a:effectStyle>
      <a:effectStyle>
        <a:effectLst>
          <a:outerShdw blurRad="57150" dist="19050" dir="5400000" algn="ctr" rotWithShape="0">
            <a:srgbClr val="000000">
              <a:alpha val="63000"/>
            </a:srgbClr>
          </a:outerShdw>
        </a:effectLst>
      </a:effectStyle>
    </a:effectStyleLst>
    <a:bgFillStyleLst>
      <a:solidFill>
        <a:schemeClr val="phClr"/>
      </a:solidFill>
      <a:solidFill>
        <a:schemeClr val="phClr">
          <a:tint val="95000"/>
          <a:satMod val="170000"/>
        </a:schemeClr>
      </a:solidFill>
      <a:gradFill rotWithShape="1">
        <a:gsLst>
          <a:gs pos="0">
            <a:schemeClr val="phClr">
              <a:tint val="93000"/>
              <a:satMod val="150000"/>
              <a:shade val="98000"/>
              <a:lumMod val="102000"/>
            </a:schemeClr>
          </a:gs>
          <a:gs pos="50000">
            <a:schemeClr val="phClr">
              <a:tint val="98000"/>
              <a:satMod val="130000"/>
              <a:shade val="90000"/>
              <a:lumMod val="103000"/>
            </a:schemeClr>
          </a:gs>
          <a:gs pos="100000">
            <a:schemeClr val="phClr">
              <a:shade val="63000"/>
              <a:satMod val="120000"/>
            </a:schemeClr>
          </a:gs>
        </a:gsLst>
        <a:lin ang="5400000" scaled="0"/>
      </a:gradFill>
    </a:bgFillStyleLst>
  </a:fmt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>TM04033929[[fn=Slate]]</Template>
  <TotalTime>341</TotalTime>
  <Words>1081</Words>
  <Application>Microsoft Office PowerPoint</Application>
  <PresentationFormat>Widescreen</PresentationFormat>
  <Paragraphs>130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4" baseType="lpstr">
      <vt:lpstr>-apple-system</vt:lpstr>
      <vt:lpstr>Arial</vt:lpstr>
      <vt:lpstr>Calibri</vt:lpstr>
      <vt:lpstr>Calisto MT</vt:lpstr>
      <vt:lpstr>Courier New</vt:lpstr>
      <vt:lpstr>Ebrima</vt:lpstr>
      <vt:lpstr>Eras Light ITC</vt:lpstr>
      <vt:lpstr>Wingdings 2</vt:lpstr>
      <vt:lpstr>Slate</vt:lpstr>
      <vt:lpstr>Database Administrators and Architects</vt:lpstr>
      <vt:lpstr>What They Do</vt:lpstr>
      <vt:lpstr>Education &amp; Skills</vt:lpstr>
      <vt:lpstr>Salary Snapshot</vt:lpstr>
      <vt:lpstr>Salary Snapshot</vt:lpstr>
      <vt:lpstr>Salary Snapshot</vt:lpstr>
      <vt:lpstr>Salary Snapshot</vt:lpstr>
      <vt:lpstr>Job Outlook</vt:lpstr>
      <vt:lpstr>Job Outlook</vt:lpstr>
      <vt:lpstr>Coursework Connection</vt:lpstr>
      <vt:lpstr>Coursework Connection</vt:lpstr>
      <vt:lpstr>Coursework Connection</vt:lpstr>
      <vt:lpstr>Trend Chart</vt:lpstr>
      <vt:lpstr>Interesting Facts</vt:lpstr>
      <vt:lpstr>References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Database Administrators and Architects</dc:title>
  <dc:creator>Ring, Lillian</dc:creator>
  <cp:lastModifiedBy>Ring, Lillian</cp:lastModifiedBy>
  <cp:revision>26</cp:revision>
  <dcterms:created xsi:type="dcterms:W3CDTF">2025-11-03T18:11:48Z</dcterms:created>
  <dcterms:modified xsi:type="dcterms:W3CDTF">2025-11-10T17:13:33Z</dcterms:modified>
</cp:coreProperties>
</file>